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sk"/>
          <p:cNvSpPr/>
          <p:nvPr/>
        </p:nvSpPr>
        <p:spPr>
          <a:xfrm>
            <a:off x="207150" y="2674693"/>
            <a:ext cx="1464886" cy="1013031"/>
          </a:xfrm>
          <a:prstGeom prst="roundRect">
            <a:avLst>
              <a:gd name="adj" fmla="val 7914"/>
            </a:avLst>
          </a:prstGeom>
          <a:solidFill>
            <a:srgbClr val="BFE1F9"/>
          </a:solidFill>
          <a:ln w="25400">
            <a:solidFill>
              <a:srgbClr val="13456F"/>
            </a:solidFill>
          </a:ln>
        </p:spPr>
        <p:txBody>
          <a:bodyPr/>
          <a:lstStyle/>
          <a:p/>
        </p:txBody>
      </p:sp>
      <p:sp>
        <p:nvSpPr>
          <p:cNvPr id="3" name="route"/>
          <p:cNvSpPr/>
          <p:nvPr/>
        </p:nvSpPr>
        <p:spPr>
          <a:xfrm>
            <a:off x="1948980" y="2674693"/>
            <a:ext cx="1545054" cy="1013031"/>
          </a:xfrm>
          <a:prstGeom prst="roundRect">
            <a:avLst>
              <a:gd name="adj" fmla="val 7914"/>
            </a:avLst>
          </a:prstGeom>
          <a:solidFill>
            <a:srgbClr val="BFE1F9"/>
          </a:solidFill>
          <a:ln w="25400">
            <a:solidFill>
              <a:srgbClr val="13456F"/>
            </a:solidFill>
          </a:ln>
        </p:spPr>
        <p:txBody>
          <a:bodyPr/>
          <a:lstStyle/>
          <a:p/>
        </p:txBody>
      </p:sp>
      <p:sp>
        <p:nvSpPr>
          <p:cNvPr id="4" name="agents"/>
          <p:cNvSpPr/>
          <p:nvPr/>
        </p:nvSpPr>
        <p:spPr>
          <a:xfrm>
            <a:off x="3800130" y="2463341"/>
            <a:ext cx="3418068" cy="1443022"/>
          </a:xfrm>
          <a:prstGeom prst="roundRect">
            <a:avLst>
              <a:gd name="adj" fmla="val 5556"/>
            </a:avLst>
          </a:prstGeom>
          <a:solidFill>
            <a:srgbClr val="CEEEEE"/>
          </a:solidFill>
          <a:ln w="25400">
            <a:solidFill>
              <a:srgbClr val="008F99"/>
            </a:solidFill>
          </a:ln>
        </p:spPr>
        <p:txBody>
          <a:bodyPr/>
          <a:lstStyle/>
          <a:p/>
        </p:txBody>
      </p:sp>
      <p:sp>
        <p:nvSpPr>
          <p:cNvPr id="5" name="research"/>
          <p:cNvSpPr/>
          <p:nvPr/>
        </p:nvSpPr>
        <p:spPr>
          <a:xfrm>
            <a:off x="3953178" y="3009940"/>
            <a:ext cx="962015" cy="677783"/>
          </a:xfrm>
          <a:prstGeom prst="roundRect">
            <a:avLst>
              <a:gd name="adj" fmla="val 11828"/>
            </a:avLst>
          </a:prstGeom>
          <a:solidFill>
            <a:srgbClr val="A7DCDF"/>
          </a:solidFill>
          <a:ln w="25400">
            <a:solidFill>
              <a:srgbClr val="008F99"/>
            </a:solidFill>
          </a:ln>
        </p:spPr>
        <p:txBody>
          <a:bodyPr/>
          <a:lstStyle/>
          <a:p/>
        </p:txBody>
      </p:sp>
      <p:sp>
        <p:nvSpPr>
          <p:cNvPr id="6" name="analysis"/>
          <p:cNvSpPr/>
          <p:nvPr/>
        </p:nvSpPr>
        <p:spPr>
          <a:xfrm>
            <a:off x="5031801" y="3009940"/>
            <a:ext cx="969303" cy="677783"/>
          </a:xfrm>
          <a:prstGeom prst="roundRect">
            <a:avLst>
              <a:gd name="adj" fmla="val 11828"/>
            </a:avLst>
          </a:prstGeom>
          <a:solidFill>
            <a:srgbClr val="A7DCDF"/>
          </a:solidFill>
          <a:ln w="25400">
            <a:solidFill>
              <a:srgbClr val="008F99"/>
            </a:solidFill>
          </a:ln>
        </p:spPr>
        <p:txBody>
          <a:bodyPr/>
          <a:lstStyle/>
          <a:p/>
        </p:txBody>
      </p:sp>
      <p:sp>
        <p:nvSpPr>
          <p:cNvPr id="7" name="synthesis"/>
          <p:cNvSpPr/>
          <p:nvPr/>
        </p:nvSpPr>
        <p:spPr>
          <a:xfrm>
            <a:off x="6117712" y="3009940"/>
            <a:ext cx="969303" cy="677783"/>
          </a:xfrm>
          <a:prstGeom prst="roundRect">
            <a:avLst>
              <a:gd name="adj" fmla="val 11828"/>
            </a:avLst>
          </a:prstGeom>
          <a:solidFill>
            <a:srgbClr val="A7DCDF"/>
          </a:solidFill>
          <a:ln w="25400">
            <a:solidFill>
              <a:srgbClr val="008F99"/>
            </a:solidFill>
          </a:ln>
        </p:spPr>
        <p:txBody>
          <a:bodyPr/>
          <a:lstStyle/>
          <a:p/>
        </p:txBody>
      </p:sp>
      <p:sp>
        <p:nvSpPr>
          <p:cNvPr id="8" name="integrate"/>
          <p:cNvSpPr/>
          <p:nvPr/>
        </p:nvSpPr>
        <p:spPr>
          <a:xfrm>
            <a:off x="7546158" y="2674693"/>
            <a:ext cx="1333702" cy="1013031"/>
          </a:xfrm>
          <a:prstGeom prst="roundRect">
            <a:avLst>
              <a:gd name="adj" fmla="val 7914"/>
            </a:avLst>
          </a:prstGeom>
          <a:solidFill>
            <a:srgbClr val="BFE1F9"/>
          </a:solidFill>
          <a:ln w="25400">
            <a:solidFill>
              <a:srgbClr val="13456F"/>
            </a:solidFill>
          </a:ln>
        </p:spPr>
        <p:txBody>
          <a:bodyPr/>
          <a:lstStyle/>
          <a:p/>
        </p:txBody>
      </p:sp>
      <p:sp>
        <p:nvSpPr>
          <p:cNvPr id="9" name="verify"/>
          <p:cNvSpPr/>
          <p:nvPr/>
        </p:nvSpPr>
        <p:spPr>
          <a:xfrm>
            <a:off x="9164092" y="2674693"/>
            <a:ext cx="1275399" cy="1027607"/>
          </a:xfrm>
          <a:prstGeom prst="roundRect">
            <a:avLst>
              <a:gd name="adj" fmla="val 7801"/>
            </a:avLst>
          </a:prstGeom>
          <a:solidFill>
            <a:srgbClr val="FFE0B7"/>
          </a:solidFill>
          <a:ln w="25400">
            <a:solidFill>
              <a:srgbClr val="FF6B0A"/>
            </a:solidFill>
          </a:ln>
        </p:spPr>
        <p:txBody>
          <a:bodyPr/>
          <a:lstStyle/>
          <a:p/>
        </p:txBody>
      </p:sp>
      <p:sp>
        <p:nvSpPr>
          <p:cNvPr id="10" name="result"/>
          <p:cNvSpPr/>
          <p:nvPr/>
        </p:nvSpPr>
        <p:spPr>
          <a:xfrm>
            <a:off x="10731010" y="2674693"/>
            <a:ext cx="1260823" cy="1013031"/>
          </a:xfrm>
          <a:prstGeom prst="roundRect">
            <a:avLst>
              <a:gd name="adj" fmla="val 7914"/>
            </a:avLst>
          </a:prstGeom>
          <a:solidFill>
            <a:srgbClr val="BFE1F9"/>
          </a:solidFill>
          <a:ln w="25400">
            <a:solidFill>
              <a:srgbClr val="13456F"/>
            </a:solidFill>
          </a:ln>
        </p:spPr>
        <p:txBody>
          <a:bodyPr/>
          <a:lstStyle/>
          <a:p/>
        </p:txBody>
      </p:sp>
      <p:sp>
        <p:nvSpPr>
          <p:cNvPr id="11" name="shared"/>
          <p:cNvSpPr/>
          <p:nvPr/>
        </p:nvSpPr>
        <p:spPr>
          <a:xfrm>
            <a:off x="3676234" y="4678891"/>
            <a:ext cx="3673148" cy="750663"/>
          </a:xfrm>
          <a:prstGeom prst="roundRect">
            <a:avLst>
              <a:gd name="adj" fmla="val 10680"/>
            </a:avLst>
          </a:prstGeom>
          <a:solidFill>
            <a:srgbClr val="BFE1F9"/>
          </a:solidFill>
          <a:ln w="25400">
            <a:solidFill>
              <a:srgbClr val="13456F"/>
            </a:solidFill>
          </a:ln>
        </p:spPr>
        <p:txBody>
          <a:bodyPr/>
          <a:lstStyle/>
          <a:p/>
        </p:txBody>
      </p:sp>
      <p:sp>
        <p:nvSpPr>
          <p:cNvPr id="12" name="retry"/>
          <p:cNvSpPr/>
          <p:nvPr/>
        </p:nvSpPr>
        <p:spPr>
          <a:xfrm>
            <a:off x="5141121" y="1639798"/>
            <a:ext cx="1916742" cy="481007"/>
          </a:xfrm>
          <a:prstGeom prst="roundRect">
            <a:avLst>
              <a:gd name="adj" fmla="val 16667"/>
            </a:avLst>
          </a:prstGeom>
          <a:solidFill>
            <a:srgbClr val="FFE0B7"/>
          </a:solidFill>
          <a:ln w="25400">
            <a:solidFill>
              <a:srgbClr val="FF6B0A"/>
            </a:solidFill>
          </a:ln>
        </p:spPr>
        <p:txBody>
          <a:bodyPr/>
          <a:lstStyle/>
          <a:p/>
        </p:txBody>
      </p:sp>
      <p:cxnSp>
        <p:nvCxnSpPr>
          <p:cNvPr id="13" name="a1"/>
          <p:cNvCxnSpPr/>
          <p:nvPr/>
        </p:nvCxnSpPr>
        <p:spPr>
          <a:xfrm>
            <a:off x="1679325" y="3184852"/>
            <a:ext cx="269656" cy="0"/>
          </a:xfrm>
          <a:prstGeom prst="line">
            <a:avLst/>
          </a:prstGeom>
          <a:noFill/>
          <a:ln w="29209">
            <a:solidFill>
              <a:srgbClr val="606060"/>
            </a:solidFill>
            <a:tailEnd type="triangle" w="med" len="med"/>
          </a:ln>
        </p:spPr>
      </p:cxnSp>
      <p:cxnSp>
        <p:nvCxnSpPr>
          <p:cNvPr id="14" name="a2"/>
          <p:cNvCxnSpPr/>
          <p:nvPr/>
        </p:nvCxnSpPr>
        <p:spPr>
          <a:xfrm>
            <a:off x="3494035" y="3184852"/>
            <a:ext cx="306096" cy="0"/>
          </a:xfrm>
          <a:prstGeom prst="line">
            <a:avLst/>
          </a:prstGeom>
          <a:noFill/>
          <a:ln w="29209">
            <a:solidFill>
              <a:srgbClr val="606060"/>
            </a:solidFill>
            <a:tailEnd type="triangle" w="med" len="med"/>
          </a:ln>
        </p:spPr>
      </p:cxnSp>
      <p:cxnSp>
        <p:nvCxnSpPr>
          <p:cNvPr id="15" name="a3"/>
          <p:cNvCxnSpPr/>
          <p:nvPr/>
        </p:nvCxnSpPr>
        <p:spPr>
          <a:xfrm>
            <a:off x="7218198" y="3184852"/>
            <a:ext cx="327960" cy="0"/>
          </a:xfrm>
          <a:prstGeom prst="line">
            <a:avLst/>
          </a:prstGeom>
          <a:noFill/>
          <a:ln w="29209">
            <a:solidFill>
              <a:srgbClr val="606060"/>
            </a:solidFill>
            <a:tailEnd type="triangle" w="med" len="med"/>
          </a:ln>
        </p:spPr>
      </p:cxnSp>
      <p:cxnSp>
        <p:nvCxnSpPr>
          <p:cNvPr id="16" name="a4"/>
          <p:cNvCxnSpPr/>
          <p:nvPr/>
        </p:nvCxnSpPr>
        <p:spPr>
          <a:xfrm>
            <a:off x="8879860" y="3184852"/>
            <a:ext cx="284232" cy="0"/>
          </a:xfrm>
          <a:prstGeom prst="line">
            <a:avLst/>
          </a:prstGeom>
          <a:noFill/>
          <a:ln w="29209">
            <a:solidFill>
              <a:srgbClr val="606060"/>
            </a:solidFill>
            <a:tailEnd type="triangle" w="med" len="med"/>
          </a:ln>
        </p:spPr>
      </p:cxnSp>
      <p:cxnSp>
        <p:nvCxnSpPr>
          <p:cNvPr id="17" name="a5"/>
          <p:cNvCxnSpPr/>
          <p:nvPr/>
        </p:nvCxnSpPr>
        <p:spPr>
          <a:xfrm>
            <a:off x="10439491" y="3184852"/>
            <a:ext cx="291520" cy="0"/>
          </a:xfrm>
          <a:prstGeom prst="line">
            <a:avLst/>
          </a:prstGeom>
          <a:noFill/>
          <a:ln w="29209">
            <a:solidFill>
              <a:srgbClr val="606060"/>
            </a:solidFill>
            <a:tailEnd type="triangle" w="med" len="med"/>
          </a:ln>
        </p:spPr>
      </p:cxnSp>
      <p:cxnSp>
        <p:nvCxnSpPr>
          <p:cNvPr id="18" name="shared_flow"/>
          <p:cNvCxnSpPr/>
          <p:nvPr/>
        </p:nvCxnSpPr>
        <p:spPr>
          <a:xfrm>
            <a:off x="5512808" y="3928227"/>
            <a:ext cx="0" cy="728799"/>
          </a:xfrm>
          <a:prstGeom prst="line">
            <a:avLst/>
          </a:prstGeom>
          <a:noFill/>
          <a:ln w="29209">
            <a:solidFill>
              <a:srgbClr val="606060"/>
            </a:solidFill>
            <a:headEnd type="triangle" w="med" len="med"/>
            <a:tailEnd type="triangle" w="med" len="med"/>
          </a:ln>
        </p:spPr>
      </p:cxnSp>
      <p:cxnSp>
        <p:nvCxnSpPr>
          <p:cNvPr id="19" name="retry_in"/>
          <p:cNvCxnSpPr/>
          <p:nvPr/>
        </p:nvCxnSpPr>
        <p:spPr>
          <a:xfrm flipH="1" flipV="1">
            <a:off x="7065150" y="1880302"/>
            <a:ext cx="2324869" cy="794391"/>
          </a:xfrm>
          <a:prstGeom prst="line">
            <a:avLst/>
          </a:prstGeom>
          <a:noFill/>
          <a:ln w="29209">
            <a:solidFill>
              <a:srgbClr val="FF6B0A"/>
            </a:solidFill>
            <a:prstDash val="dash"/>
            <a:tailEnd type="triangle" w="med" len="med"/>
          </a:ln>
        </p:spPr>
      </p:cxnSp>
      <p:cxnSp>
        <p:nvCxnSpPr>
          <p:cNvPr id="20" name="retry_out"/>
          <p:cNvCxnSpPr/>
          <p:nvPr/>
        </p:nvCxnSpPr>
        <p:spPr>
          <a:xfrm flipH="1">
            <a:off x="2736084" y="1880302"/>
            <a:ext cx="2405037" cy="750663"/>
          </a:xfrm>
          <a:prstGeom prst="line">
            <a:avLst/>
          </a:prstGeom>
          <a:noFill/>
          <a:ln w="29209">
            <a:solidFill>
              <a:srgbClr val="FF6B0A"/>
            </a:solidFill>
            <a:prstDash val="dash"/>
            <a:tailEnd type="triangle" w="med" len="med"/>
          </a:ln>
        </p:spPr>
      </p:cxnSp>
      <p:sp>
        <p:nvSpPr>
          <p:cNvPr id="21" name="TextBox 21"/>
          <p:cNvSpPr txBox="1"/>
          <p:nvPr/>
        </p:nvSpPr>
        <p:spPr>
          <a:xfrm>
            <a:off x="1227469" y="808967"/>
            <a:ext cx="9496253" cy="6194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379" b="1">
                <a:solidFill>
                  <a:srgbClr val="082858"/>
                </a:solidFill>
                <a:latin typeface="Arial"/>
                <a:ea typeface="Arial"/>
                <a:cs typeface="Arial"/>
              </a:rPr>
              <a:t>Task-structured Multi-Agent Collaboration</a:t>
            </a:r>
            <a:endParaRPr lang="zh-CN" sz="3379"/>
          </a:p>
        </p:txBody>
      </p:sp>
      <p:sp>
        <p:nvSpPr>
          <p:cNvPr id="22" name="TextBox 22"/>
          <p:cNvSpPr txBox="1"/>
          <p:nvPr/>
        </p:nvSpPr>
        <p:spPr>
          <a:xfrm>
            <a:off x="309182" y="2900621"/>
            <a:ext cx="1253535" cy="5830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3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Task &amp;</a:t>
            </a:r>
            <a:endParaRPr lang="zh-CN" sz="1630"/>
          </a:p>
          <a:p>
            <a:pPr algn="ctr"/>
            <a:r>
              <a:rPr lang="zh-CN" sz="163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constraints</a:t>
            </a:r>
            <a:endParaRPr lang="zh-CN" sz="1630"/>
          </a:p>
        </p:txBody>
      </p:sp>
      <p:sp>
        <p:nvSpPr>
          <p:cNvPr id="23" name="TextBox 23"/>
          <p:cNvSpPr txBox="1"/>
          <p:nvPr/>
        </p:nvSpPr>
        <p:spPr>
          <a:xfrm>
            <a:off x="2036436" y="2900621"/>
            <a:ext cx="1370142" cy="5830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Decompose &amp;</a:t>
            </a:r>
            <a:endParaRPr lang="zh-CN" sz="1850"/>
          </a:p>
          <a:p>
            <a:pPr algn="ctr"/>
            <a:r>
              <a:rPr lang="zh-CN" sz="185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route</a:t>
            </a:r>
            <a:endParaRPr lang="zh-CN" sz="1850"/>
          </a:p>
        </p:txBody>
      </p:sp>
      <p:sp>
        <p:nvSpPr>
          <p:cNvPr id="24" name="TextBox 24"/>
          <p:cNvSpPr txBox="1"/>
          <p:nvPr/>
        </p:nvSpPr>
        <p:spPr>
          <a:xfrm>
            <a:off x="4579945" y="2594525"/>
            <a:ext cx="1865726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1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Specialist agents</a:t>
            </a:r>
            <a:endParaRPr lang="zh-CN" sz="1610"/>
          </a:p>
        </p:txBody>
      </p:sp>
      <p:sp>
        <p:nvSpPr>
          <p:cNvPr id="25" name="TextBox 25"/>
          <p:cNvSpPr txBox="1"/>
          <p:nvPr/>
        </p:nvSpPr>
        <p:spPr>
          <a:xfrm>
            <a:off x="4011482" y="3192140"/>
            <a:ext cx="84540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1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Research</a:t>
            </a:r>
            <a:endParaRPr lang="zh-CN" sz="1510"/>
          </a:p>
        </p:txBody>
      </p:sp>
      <p:sp>
        <p:nvSpPr>
          <p:cNvPr id="26" name="TextBox 26"/>
          <p:cNvSpPr txBox="1"/>
          <p:nvPr/>
        </p:nvSpPr>
        <p:spPr>
          <a:xfrm>
            <a:off x="5097393" y="3192140"/>
            <a:ext cx="838119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Analysis</a:t>
            </a:r>
            <a:endParaRPr lang="zh-CN" sz="1500"/>
          </a:p>
        </p:txBody>
      </p:sp>
      <p:sp>
        <p:nvSpPr>
          <p:cNvPr id="27" name="TextBox 27"/>
          <p:cNvSpPr txBox="1"/>
          <p:nvPr/>
        </p:nvSpPr>
        <p:spPr>
          <a:xfrm>
            <a:off x="6183303" y="3192140"/>
            <a:ext cx="838119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3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Synthesis</a:t>
            </a:r>
            <a:endParaRPr lang="zh-CN" sz="1330"/>
          </a:p>
        </p:txBody>
      </p:sp>
      <p:sp>
        <p:nvSpPr>
          <p:cNvPr id="28" name="TextBox 28"/>
          <p:cNvSpPr txBox="1"/>
          <p:nvPr/>
        </p:nvSpPr>
        <p:spPr>
          <a:xfrm>
            <a:off x="7633614" y="2900621"/>
            <a:ext cx="1158791" cy="5830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Integrate &amp;</a:t>
            </a:r>
            <a:endParaRPr lang="zh-CN" sz="1570"/>
          </a:p>
          <a:p>
            <a:pPr algn="ctr"/>
            <a:r>
              <a:rPr lang="zh-CN" sz="157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resolve</a:t>
            </a:r>
            <a:endParaRPr lang="zh-CN" sz="1570"/>
          </a:p>
        </p:txBody>
      </p:sp>
      <p:sp>
        <p:nvSpPr>
          <p:cNvPr id="29" name="TextBox 29"/>
          <p:cNvSpPr txBox="1"/>
          <p:nvPr/>
        </p:nvSpPr>
        <p:spPr>
          <a:xfrm>
            <a:off x="9229684" y="2900621"/>
            <a:ext cx="1144215" cy="5830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External</a:t>
            </a:r>
            <a:endParaRPr lang="zh-CN" sz="1370"/>
          </a:p>
          <a:p>
            <a:pPr algn="ctr"/>
            <a:r>
              <a:rPr lang="zh-CN" sz="137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verification</a:t>
            </a:r>
            <a:endParaRPr lang="zh-CN" sz="1370"/>
          </a:p>
        </p:txBody>
      </p:sp>
      <p:sp>
        <p:nvSpPr>
          <p:cNvPr id="30" name="TextBox 30"/>
          <p:cNvSpPr txBox="1"/>
          <p:nvPr/>
        </p:nvSpPr>
        <p:spPr>
          <a:xfrm>
            <a:off x="10818466" y="2900621"/>
            <a:ext cx="1085911" cy="5830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8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Result &amp;</a:t>
            </a:r>
            <a:endParaRPr lang="zh-CN" sz="1880"/>
          </a:p>
          <a:p>
            <a:pPr algn="ctr"/>
            <a:r>
              <a:rPr lang="zh-CN" sz="188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stop</a:t>
            </a:r>
            <a:endParaRPr lang="zh-CN" sz="1880"/>
          </a:p>
        </p:txBody>
      </p:sp>
      <p:sp>
        <p:nvSpPr>
          <p:cNvPr id="31" name="TextBox 31"/>
          <p:cNvSpPr txBox="1"/>
          <p:nvPr/>
        </p:nvSpPr>
        <p:spPr>
          <a:xfrm>
            <a:off x="3865722" y="4882954"/>
            <a:ext cx="3308748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7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Shared state &amp; source evidence</a:t>
            </a:r>
            <a:endParaRPr lang="zh-CN" sz="1670"/>
          </a:p>
        </p:txBody>
      </p:sp>
      <p:sp>
        <p:nvSpPr>
          <p:cNvPr id="32" name="TextBox 32"/>
          <p:cNvSpPr txBox="1"/>
          <p:nvPr/>
        </p:nvSpPr>
        <p:spPr>
          <a:xfrm>
            <a:off x="5265017" y="1727254"/>
            <a:ext cx="1668950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Bounded retry</a:t>
            </a:r>
            <a:endParaRPr lang="zh-CN" sz="1900"/>
          </a:p>
        </p:txBody>
      </p:sp>
      <p:sp>
        <p:nvSpPr>
          <p:cNvPr id="33" name="TextBox 33"/>
          <p:cNvSpPr txBox="1"/>
          <p:nvPr/>
        </p:nvSpPr>
        <p:spPr>
          <a:xfrm>
            <a:off x="9113076" y="3818908"/>
            <a:ext cx="1384718" cy="5174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8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Escalate when</a:t>
            </a:r>
            <a:endParaRPr lang="zh-CN" sz="1580"/>
          </a:p>
          <a:p>
            <a:pPr algn="ctr"/>
            <a:r>
              <a:rPr lang="zh-CN" sz="1580" b="1">
                <a:solidFill>
                  <a:srgbClr val="082858"/>
                </a:solidFill>
                <a:latin typeface="Arial Narrow"/>
                <a:ea typeface="Arial Narrow"/>
                <a:cs typeface="Arial Narrow"/>
              </a:rPr>
              <a:t>unresolved</a:t>
            </a:r>
            <a:endParaRPr lang="zh-CN" sz="1580"/>
          </a:p>
        </p:txBody>
      </p:sp>
      <p:sp>
        <p:nvSpPr>
          <p:cNvPr id="34" name="TextBox 34"/>
          <p:cNvSpPr txBox="1"/>
          <p:nvPr/>
        </p:nvSpPr>
        <p:spPr>
          <a:xfrm>
            <a:off x="3428443" y="5823105"/>
            <a:ext cx="5283794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20" b="1">
                <a:solidFill>
                  <a:srgbClr val="082858"/>
                </a:solidFill>
                <a:latin typeface="Arial"/>
                <a:ea typeface="Arial"/>
                <a:cs typeface="Arial"/>
              </a:rPr>
              <a:t>More agents do not guarantee better results.</a:t>
            </a:r>
            <a:endParaRPr lang="zh-CN" sz="1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